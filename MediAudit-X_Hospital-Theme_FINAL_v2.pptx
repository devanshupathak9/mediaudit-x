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7" r:id="rId17"/>
    <p:sldId id="264" r:id="rId10"/>
    <p:sldId id="266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37011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/Relationships>
</file>

<file path=ppt/slides/_rels/slide4.xml.rels><?xml version='1.0' encoding='UTF-8' standalone='yes'?>
<Relationships xmlns="http://schemas.openxmlformats.org/package/2006/relationships"><Relationship Id="rId1" Type="http://schemas.microsoft.com/office/2007/relationships/media" Target="../media/media1.mp4"/><Relationship Id="rId2" Type="http://schemas.openxmlformats.org/officeDocument/2006/relationships/video" Target="../media/media1.mp4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Relationship Id="rId5" Type="http://schemas.openxmlformats.org/officeDocument/2006/relationships/image" Target="../media/image6.png"/><Relationship Id="rId6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9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4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45720"/>
            <a:ext cx="2286000" cy="6766560"/>
          </a:xfrm>
          <a:prstGeom prst="rect">
            <a:avLst/>
          </a:prstGeom>
          <a:solidFill>
            <a:srgbClr val="DCEDF2"/>
          </a:solidFill>
          <a:ln w="12700">
            <a:solidFill>
              <a:srgbClr val="DCEDF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72200" y="2286000"/>
            <a:ext cx="6766560" cy="2286000"/>
          </a:xfrm>
          <a:prstGeom prst="rect">
            <a:avLst/>
          </a:prstGeom>
          <a:solidFill>
            <a:srgbClr val="DCEDF2"/>
          </a:solidFill>
          <a:ln w="12700">
            <a:solidFill>
              <a:srgbClr val="DCEDF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135716" y="603504"/>
            <a:ext cx="4239420" cy="5650992"/>
          </a:xfrm>
          <a:prstGeom prst="roundRect">
            <a:avLst>
              <a:gd name="adj" fmla="val 1726"/>
            </a:avLst>
          </a:prstGeom>
          <a:solidFill>
            <a:srgbClr val="FFFFFF"/>
          </a:solidFill>
          <a:ln w="9525">
            <a:solidFill>
              <a:srgbClr val="D6E5EB"/>
            </a:solidFill>
            <a:prstDash val="solid"/>
          </a:ln>
          <a:effectLst>
            <a:outerShdw blurRad="101600" dist="25400" dir="5400000" algn="bl" rotWithShape="0">
              <a:srgbClr val="0F2A3A">
                <a:alpha val="10000"/>
              </a:srgbClr>
            </a:outerShdw>
          </a:effectLst>
        </p:spPr>
      </p:sp>
      <p:pic>
        <p:nvPicPr>
          <p:cNvPr id="5" name="Image 0" descr="MediAudit-X platform overview p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8012" y="685800"/>
            <a:ext cx="4074828" cy="5486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3816" y="1417320"/>
            <a:ext cx="640080" cy="640080"/>
          </a:xfrm>
          <a:prstGeom prst="ellipse">
            <a:avLst/>
          </a:prstGeom>
          <a:solidFill>
            <a:srgbClr val="0A7C8A"/>
          </a:solidFill>
          <a:ln w="12700">
            <a:solidFill>
              <a:srgbClr val="0A7C8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69848" y="1564538"/>
            <a:ext cx="128016" cy="34564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61034" y="1673352"/>
            <a:ext cx="345643" cy="12801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13816" y="233172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THE FUTURE HACKATHON 2026 · ELASTIC × AWS × SARVAM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13816" y="269748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MediAudit-X</a:t>
            </a:r>
            <a:endParaRPr lang="en-US" sz="6600" dirty="0"/>
          </a:p>
        </p:txBody>
      </p:sp>
      <p:sp>
        <p:nvSpPr>
          <p:cNvPr id="11" name="Text 8"/>
          <p:cNvSpPr txBox="1"/>
          <p:nvPr/>
        </p:nvSpPr>
        <p:spPr>
          <a:xfrm>
            <a:off x="813816" y="38862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you can cite, not just trust.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813816" y="4526280"/>
            <a:ext cx="51206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zero-hallucination clinical claims auditor — grounded in real Elasticsearch search results, cited back to source, every time.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3291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03536" y="329184"/>
            <a:ext cx="274320" cy="274320"/>
          </a:xfrm>
          <a:prstGeom prst="ellipse">
            <a:avLst/>
          </a:prstGeom>
          <a:solidFill>
            <a:srgbClr val="0A7C8A"/>
          </a:solidFill>
          <a:ln w="12700">
            <a:solidFill>
              <a:srgbClr val="0A7C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13264" y="392278"/>
            <a:ext cx="54864" cy="14813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66630" y="438912"/>
            <a:ext cx="148133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69296" y="3291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MediAudit-X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713232"/>
            <a:ext cx="10561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authorization is a black box — and it's breaking under its own weight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13816" y="2103120"/>
            <a:ext cx="33375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6E5EB"/>
            </a:solidFill>
            <a:prstDash val="solid"/>
          </a:ln>
          <a:effectLst>
            <a:outerShdw blurRad="101600" dist="25400" dir="5400000" algn="bl" rotWithShape="0">
              <a:srgbClr val="0F2A3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88136" y="2359152"/>
            <a:ext cx="502920" cy="502920"/>
          </a:xfrm>
          <a:prstGeom prst="ellipse">
            <a:avLst/>
          </a:prstGeom>
          <a:solidFill>
            <a:srgbClr val="E2F4F1"/>
          </a:solidFill>
          <a:ln w="12700">
            <a:solidFill>
              <a:srgbClr val="E2F4F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866" y="2484882"/>
            <a:ext cx="251460" cy="2514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88136" y="299923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4400" dirty="0"/>
          </a:p>
        </p:txBody>
      </p:sp>
      <p:sp>
        <p:nvSpPr>
          <p:cNvPr id="12" name="Text 9"/>
          <p:cNvSpPr txBox="1"/>
          <p:nvPr/>
        </p:nvSpPr>
        <p:spPr>
          <a:xfrm>
            <a:off x="1088136" y="37033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prior-authorization requests handled per practice, per week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425696" y="2103120"/>
            <a:ext cx="33375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6E5EB"/>
            </a:solidFill>
            <a:prstDash val="solid"/>
          </a:ln>
          <a:effectLst>
            <a:outerShdw blurRad="101600" dist="25400" dir="5400000" algn="bl" rotWithShape="0">
              <a:srgbClr val="0F2A3A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700016" y="2359152"/>
            <a:ext cx="502920" cy="502920"/>
          </a:xfrm>
          <a:prstGeom prst="ellipse">
            <a:avLst/>
          </a:prstGeom>
          <a:solidFill>
            <a:srgbClr val="E2F4F1"/>
          </a:solidFill>
          <a:ln w="12700">
            <a:solidFill>
              <a:srgbClr val="E2F4F1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746" y="2484882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700016" y="299923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16.4 hrs</a:t>
            </a:r>
            <a:endParaRPr lang="en-US" sz="4400" dirty="0"/>
          </a:p>
        </p:txBody>
      </p:sp>
      <p:sp>
        <p:nvSpPr>
          <p:cNvPr id="17" name="Text 13"/>
          <p:cNvSpPr txBox="1"/>
          <p:nvPr/>
        </p:nvSpPr>
        <p:spPr>
          <a:xfrm>
            <a:off x="4700016" y="37033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physician &amp; staff time spent on PA requirements every week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037576" y="2103120"/>
            <a:ext cx="333756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9525">
            <a:solidFill>
              <a:srgbClr val="D6E5EB"/>
            </a:solidFill>
            <a:prstDash val="solid"/>
          </a:ln>
          <a:effectLst>
            <a:outerShdw blurRad="101600" dist="25400" dir="5400000" algn="bl" rotWithShape="0">
              <a:srgbClr val="0F2A3A">
                <a:alpha val="1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8311896" y="2359152"/>
            <a:ext cx="502920" cy="502920"/>
          </a:xfrm>
          <a:prstGeom prst="ellipse">
            <a:avLst/>
          </a:prstGeom>
          <a:solidFill>
            <a:srgbClr val="E2F4F1"/>
          </a:solidFill>
          <a:ln w="12700">
            <a:solidFill>
              <a:srgbClr val="E2F4F1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7626" y="2484882"/>
            <a:ext cx="251460" cy="25146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311896" y="2999232"/>
            <a:ext cx="2788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26%</a:t>
            </a:r>
            <a:endParaRPr lang="en-US" sz="4400" dirty="0"/>
          </a:p>
        </p:txBody>
      </p:sp>
      <p:sp>
        <p:nvSpPr>
          <p:cNvPr id="22" name="Text 17"/>
          <p:cNvSpPr txBox="1"/>
          <p:nvPr/>
        </p:nvSpPr>
        <p:spPr>
          <a:xfrm>
            <a:off x="8311896" y="37033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physicians wait 3+ business days for a payer's decision</a:t>
            </a:r>
            <a:endParaRPr lang="en-US" sz="1300" dirty="0"/>
          </a:p>
        </p:txBody>
      </p:sp>
      <p:sp>
        <p:nvSpPr>
          <p:cNvPr id="23" name="Text 18"/>
          <p:cNvSpPr txBox="1"/>
          <p:nvPr/>
        </p:nvSpPr>
        <p:spPr>
          <a:xfrm>
            <a:off x="813816" y="461772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manually dig through charts, policy PDFs, and drug-interaction databases for every claim — and when a claim is denied or sent back for more information, there's often no verifiable trail explaining why. </a:t>
            </a:r>
            <a:r>
              <a:rPr lang="en-US" sz="1500" b="1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Patients and hospitals wait. Audits can't be trusted.</a:t>
            </a:r>
            <a:endParaRPr lang="en-US" sz="1500" dirty="0"/>
          </a:p>
        </p:txBody>
      </p:sp>
      <p:sp>
        <p:nvSpPr>
          <p:cNvPr id="24" name="Text 19"/>
          <p:cNvSpPr txBox="1"/>
          <p:nvPr/>
        </p:nvSpPr>
        <p:spPr>
          <a:xfrm>
            <a:off x="813816" y="61722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6881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American Medical Association, 2024 Prior Authorization Physician Survey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3291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03536" y="329184"/>
            <a:ext cx="274320" cy="274320"/>
          </a:xfrm>
          <a:prstGeom prst="ellipse">
            <a:avLst/>
          </a:prstGeom>
          <a:solidFill>
            <a:srgbClr val="0A7C8A"/>
          </a:solidFill>
          <a:ln w="12700">
            <a:solidFill>
              <a:srgbClr val="0A7C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13264" y="392278"/>
            <a:ext cx="54864" cy="14813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66630" y="438912"/>
            <a:ext cx="148133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69296" y="3291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MediAudit-X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713232"/>
            <a:ext cx="10561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agent that adjudicates like a senior reviewer — and shows its work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813816" y="150876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MediAudit-X turns a claim into a cited decision. It searches real policy text, a patient's real treatment history, and real drug-interaction data — the LLM reasons over those results, and a deterministic rule confirms the final Approve, Deny, or Request Info outcome.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13816" y="2606040"/>
            <a:ext cx="3246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6E5EB"/>
            </a:solidFill>
            <a:prstDash val="solid"/>
          </a:ln>
          <a:effectLst>
            <a:outerShdw blurRad="101600" dist="25400" dir="5400000" algn="bl" rotWithShape="0">
              <a:srgbClr val="0F2A3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1088136" y="2862072"/>
            <a:ext cx="502920" cy="502920"/>
          </a:xfrm>
          <a:prstGeom prst="ellipse">
            <a:avLst/>
          </a:prstGeom>
          <a:solidFill>
            <a:srgbClr val="E2F4F1"/>
          </a:solidFill>
          <a:ln w="12700">
            <a:solidFill>
              <a:srgbClr val="E2F4F1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866" y="2987802"/>
            <a:ext cx="251460" cy="25146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1088136" y="352044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Search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1088136" y="386791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BM25 + vector search (RRF) over policies, and ES|QL over patient history</a:t>
            </a:r>
            <a:endParaRPr lang="en-US" sz="125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55948" y="3547872"/>
            <a:ext cx="219456" cy="219456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471416" y="2606040"/>
            <a:ext cx="3246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6E5EB"/>
            </a:solidFill>
            <a:prstDash val="solid"/>
          </a:ln>
          <a:effectLst>
            <a:outerShdw blurRad="101600" dist="25400" dir="5400000" algn="bl" rotWithShape="0">
              <a:srgbClr val="0F2A3A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745736" y="2862072"/>
            <a:ext cx="502920" cy="502920"/>
          </a:xfrm>
          <a:prstGeom prst="ellipse">
            <a:avLst/>
          </a:prstGeom>
          <a:solidFill>
            <a:srgbClr val="E2F4F1"/>
          </a:solidFill>
          <a:ln w="12700">
            <a:solidFill>
              <a:srgbClr val="E2F4F1"/>
            </a:solidFill>
            <a:prstDash val="solid"/>
          </a:ln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1466" y="2987802"/>
            <a:ext cx="251460" cy="25146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4745736" y="352044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Reason with citations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4745736" y="386791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streams its reasoning over SSE, citing real source IDs at every step</a:t>
            </a:r>
            <a:endParaRPr lang="en-US" sz="1250" dirty="0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3548" y="3547872"/>
            <a:ext cx="219456" cy="219456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8129016" y="2606040"/>
            <a:ext cx="3246120" cy="210312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9525">
            <a:solidFill>
              <a:srgbClr val="D6E5EB"/>
            </a:solidFill>
            <a:prstDash val="solid"/>
          </a:ln>
          <a:effectLst>
            <a:outerShdw blurRad="101600" dist="25400" dir="5400000" algn="bl" rotWithShape="0">
              <a:srgbClr val="0F2A3A">
                <a:alpha val="10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403336" y="2862072"/>
            <a:ext cx="502920" cy="502920"/>
          </a:xfrm>
          <a:prstGeom prst="ellipse">
            <a:avLst/>
          </a:prstGeom>
          <a:solidFill>
            <a:srgbClr val="E2F4F1"/>
          </a:solidFill>
          <a:ln w="12700">
            <a:solidFill>
              <a:srgbClr val="E2F4F1"/>
            </a:solidFill>
            <a:prstDash val="solid"/>
          </a:ln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29066" y="2987802"/>
            <a:ext cx="251460" cy="251460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8403336" y="3520440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Reason, then confirm</a:t>
            </a:r>
            <a:endParaRPr lang="en-US" sz="1600" dirty="0"/>
          </a:p>
        </p:txBody>
      </p:sp>
      <p:sp>
        <p:nvSpPr>
          <p:cNvPr id="25" name="Text 18"/>
          <p:cNvSpPr txBox="1"/>
          <p:nvPr/>
        </p:nvSpPr>
        <p:spPr>
          <a:xfrm>
            <a:off x="8403336" y="3867912"/>
            <a:ext cx="2697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reasons through the evidence toward an outcome; a deterministic rule confirms it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813816" y="5029200"/>
            <a:ext cx="10561320" cy="960120"/>
          </a:xfrm>
          <a:prstGeom prst="roundRect">
            <a:avLst>
              <a:gd name="adj" fmla="val 7619"/>
            </a:avLst>
          </a:prstGeom>
          <a:solidFill>
            <a:srgbClr val="E2F4F1"/>
          </a:solidFill>
          <a:ln w="9525">
            <a:solidFill>
              <a:srgbClr val="BFE3DC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1088136" y="5257800"/>
            <a:ext cx="502920" cy="5029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13866" y="5383530"/>
            <a:ext cx="251460" cy="251460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1819656" y="5029200"/>
            <a:ext cx="9281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ranker picks the best code from real search results and the LLM's own browsing, and defers to the coder's entry on review. Server-side validation drops anything it can't verify against the underlying text — that's what "zero-hallucination" means here.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3291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03536" y="329184"/>
            <a:ext cx="274320" cy="274320"/>
          </a:xfrm>
          <a:prstGeom prst="ellipse">
            <a:avLst/>
          </a:prstGeom>
          <a:solidFill>
            <a:srgbClr val="0A7C8A"/>
          </a:solidFill>
          <a:ln w="12700">
            <a:solidFill>
              <a:srgbClr val="0A7C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13264" y="392278"/>
            <a:ext cx="54864" cy="14813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66630" y="438912"/>
            <a:ext cx="148133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69296" y="3291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MediAudit-X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713232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upload to a cited decision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13816" y="1325880"/>
            <a:ext cx="15316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5EB"/>
            </a:solidFill>
            <a:prstDash val="solid"/>
          </a:ln>
          <a:effectLst>
            <a:outerShdw blurRad="101600" dist="25400" dir="5400000" algn="bl" rotWithShape="0">
              <a:srgbClr val="0F2A3A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950976" y="1453896"/>
            <a:ext cx="1257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Upload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50976" y="1892808"/>
            <a:ext cx="12573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submits documents</a:t>
            </a:r>
            <a:endParaRPr lang="en-US" sz="11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00300" y="1883664"/>
            <a:ext cx="164592" cy="16459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619756" y="1325880"/>
            <a:ext cx="15316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5EB"/>
            </a:solidFill>
            <a:prstDash val="solid"/>
          </a:ln>
          <a:effectLst>
            <a:outerShdw blurRad="101600" dist="25400" dir="5400000" algn="bl" rotWithShape="0">
              <a:srgbClr val="0F2A3A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2756916" y="1453896"/>
            <a:ext cx="1257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OCR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2756916" y="1892808"/>
            <a:ext cx="12573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→ Tesseract, offset-cited chunks</a:t>
            </a:r>
            <a:endParaRPr lang="en-US" sz="1100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06240" y="1883664"/>
            <a:ext cx="164592" cy="164592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4425696" y="1325880"/>
            <a:ext cx="15316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5EB"/>
            </a:solidFill>
            <a:prstDash val="solid"/>
          </a:ln>
          <a:effectLst>
            <a:outerShdw blurRad="101600" dist="25400" dir="5400000" algn="bl" rotWithShape="0">
              <a:srgbClr val="0F2A3A">
                <a:alpha val="10000"/>
              </a:srgbClr>
            </a:outerShdw>
          </a:effectLst>
        </p:spPr>
      </p:sp>
      <p:sp>
        <p:nvSpPr>
          <p:cNvPr id="17" name="Text 13"/>
          <p:cNvSpPr txBox="1"/>
          <p:nvPr/>
        </p:nvSpPr>
        <p:spPr>
          <a:xfrm>
            <a:off x="4562856" y="1453896"/>
            <a:ext cx="1257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Draft &amp; review</a:t>
            </a:r>
            <a:endParaRPr lang="en-US" sz="1250" dirty="0"/>
          </a:p>
        </p:txBody>
      </p:sp>
      <p:sp>
        <p:nvSpPr>
          <p:cNvPr id="18" name="Text 14"/>
          <p:cNvSpPr txBox="1"/>
          <p:nvPr/>
        </p:nvSpPr>
        <p:spPr>
          <a:xfrm>
            <a:off x="4562856" y="1892808"/>
            <a:ext cx="12573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Coder accepts / edits codes with citations</a:t>
            </a:r>
            <a:endParaRPr lang="en-US" sz="11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2180" y="1883664"/>
            <a:ext cx="164592" cy="164592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6231636" y="1325880"/>
            <a:ext cx="15316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5EB"/>
            </a:solidFill>
            <a:prstDash val="solid"/>
          </a:ln>
          <a:effectLst>
            <a:outerShdw blurRad="101600" dist="25400" dir="5400000" algn="bl" rotWithShape="0">
              <a:srgbClr val="0F2A3A">
                <a:alpha val="10000"/>
              </a:srgbClr>
            </a:outerShdw>
          </a:effectLst>
        </p:spPr>
      </p:sp>
      <p:sp>
        <p:nvSpPr>
          <p:cNvPr id="21" name="Text 16"/>
          <p:cNvSpPr txBox="1"/>
          <p:nvPr/>
        </p:nvSpPr>
        <p:spPr>
          <a:xfrm>
            <a:off x="6368796" y="1453896"/>
            <a:ext cx="1257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Evidence check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6368796" y="1892808"/>
            <a:ext cx="12573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 documents support the final codes?</a:t>
            </a:r>
            <a:endParaRPr lang="en-US" sz="1100" dirty="0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0" y="1883664"/>
            <a:ext cx="164592" cy="164592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8037576" y="1325880"/>
            <a:ext cx="15316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5EB"/>
            </a:solidFill>
            <a:prstDash val="solid"/>
          </a:ln>
          <a:effectLst>
            <a:outerShdw blurRad="101600" dist="25400" dir="5400000" algn="bl" rotWithShape="0">
              <a:srgbClr val="0F2A3A">
                <a:alpha val="10000"/>
              </a:srgbClr>
            </a:outerShdw>
          </a:effectLst>
        </p:spPr>
      </p:sp>
      <p:sp>
        <p:nvSpPr>
          <p:cNvPr id="25" name="Text 19"/>
          <p:cNvSpPr txBox="1"/>
          <p:nvPr/>
        </p:nvSpPr>
        <p:spPr>
          <a:xfrm>
            <a:off x="8174736" y="1453896"/>
            <a:ext cx="1257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Adjudicate</a:t>
            </a:r>
            <a:endParaRPr lang="en-US" sz="1250" dirty="0"/>
          </a:p>
        </p:txBody>
      </p:sp>
      <p:sp>
        <p:nvSpPr>
          <p:cNvPr id="26" name="Text 20"/>
          <p:cNvSpPr txBox="1"/>
          <p:nvPr/>
        </p:nvSpPr>
        <p:spPr>
          <a:xfrm>
            <a:off x="8174736" y="1892808"/>
            <a:ext cx="12573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+ history + drug interaction agent</a:t>
            </a:r>
            <a:endParaRPr lang="en-US" sz="1100" dirty="0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24060" y="1883664"/>
            <a:ext cx="164592" cy="164592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9843516" y="1325880"/>
            <a:ext cx="153162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6E5EB"/>
            </a:solidFill>
            <a:prstDash val="solid"/>
          </a:ln>
          <a:effectLst>
            <a:outerShdw blurRad="101600" dist="25400" dir="5400000" algn="bl" rotWithShape="0">
              <a:srgbClr val="0F2A3A">
                <a:alpha val="10000"/>
              </a:srgbClr>
            </a:outerShdw>
          </a:effectLst>
        </p:spPr>
      </p:sp>
      <p:sp>
        <p:nvSpPr>
          <p:cNvPr id="29" name="Text 22"/>
          <p:cNvSpPr txBox="1"/>
          <p:nvPr/>
        </p:nvSpPr>
        <p:spPr>
          <a:xfrm>
            <a:off x="9980676" y="1453896"/>
            <a:ext cx="12573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Decide + audit</a:t>
            </a:r>
            <a:endParaRPr lang="en-US" sz="1250" dirty="0"/>
          </a:p>
        </p:txBody>
      </p:sp>
      <p:sp>
        <p:nvSpPr>
          <p:cNvPr id="30" name="Text 23"/>
          <p:cNvSpPr txBox="1"/>
          <p:nvPr/>
        </p:nvSpPr>
        <p:spPr>
          <a:xfrm>
            <a:off x="9980676" y="1892808"/>
            <a:ext cx="12573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Letter, FHIR response, hash-chained ledger entry</a:t>
            </a:r>
            <a:endParaRPr lang="en-US" sz="1100" dirty="0"/>
          </a:p>
        </p:txBody>
      </p:sp>
      <p:sp>
        <p:nvSpPr>
          <p:cNvPr id="31" name="Text 24"/>
          <p:cNvSpPr txBox="1"/>
          <p:nvPr/>
        </p:nvSpPr>
        <p:spPr>
          <a:xfrm>
            <a:off x="813816" y="2761488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above writes an entry to a </a:t>
            </a:r>
            <a:r>
              <a:rPr lang="en-US" sz="1300" b="1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hash-chained audit ledger</a:t>
            </a:r>
            <a:r>
              <a:rPr lang="en-US" sz="130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not only the final decision.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813816" y="3154680"/>
            <a:ext cx="10561320" cy="3256117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9525">
            <a:solidFill>
              <a:srgbClr val="D6E5EB"/>
            </a:solidFill>
            <a:prstDash val="solid"/>
          </a:ln>
          <a:effectLst>
            <a:outerShdw blurRad="101600" dist="25400" dir="5400000" algn="bl" rotWithShape="0">
              <a:srgbClr val="0F2A3A">
                <a:alpha val="10000"/>
              </a:srgbClr>
            </a:outerShdw>
          </a:effectLst>
        </p:spPr>
      </p:sp>
      <p:pic>
        <p:nvPicPr>
          <p:cNvPr id="33" name="MediAudit-X platform demo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86968" y="3227832"/>
            <a:ext cx="10415016" cy="310981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35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89529" y="3039259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D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899596" y="156552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08237" y="219646"/>
            <a:ext cx="54864" cy="148133"/>
          </a:xfrm>
          <a:prstGeom prst="rect">
            <a:avLst/>
          </a:prstGeom>
          <a:solidFill>
            <a:srgbClr val="0A7C8A"/>
          </a:solidFill>
          <a:ln w="12700">
            <a:solidFill>
              <a:srgbClr val="0A7C8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61603" y="266280"/>
            <a:ext cx="148133" cy="54864"/>
          </a:xfrm>
          <a:prstGeom prst="rect">
            <a:avLst/>
          </a:prstGeom>
          <a:solidFill>
            <a:srgbClr val="0A7C8A"/>
          </a:solidFill>
          <a:ln w="12700">
            <a:solidFill>
              <a:srgbClr val="0A7C8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249190" y="156552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MediAudit-X</a:t>
            </a:r>
            <a:endParaRPr lang="en-US" sz="1300" dirty="0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13A12F45-F373-3FE6-A851-31A08BBECD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6770" y="0"/>
            <a:ext cx="7341079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3291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03536" y="329184"/>
            <a:ext cx="274320" cy="274320"/>
          </a:xfrm>
          <a:prstGeom prst="ellipse">
            <a:avLst/>
          </a:prstGeom>
          <a:solidFill>
            <a:srgbClr val="0A7C8A"/>
          </a:solidFill>
          <a:ln w="12700">
            <a:solidFill>
              <a:srgbClr val="0A7C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13264" y="392278"/>
            <a:ext cx="54864" cy="14813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66630" y="438912"/>
            <a:ext cx="148133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69296" y="3291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MediAudit-X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713232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Elastic, AWS, and Claude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813816" y="146304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6E5EB"/>
            </a:solidFill>
            <a:prstDash val="solid"/>
          </a:ln>
          <a:effectLst>
            <a:outerShdw blurRad="101600" dist="25400" dir="5400000" algn="bl" rotWithShape="0">
              <a:srgbClr val="0F2A3A">
                <a:alpha val="10000"/>
              </a:srgbClr>
            </a:outerShdw>
          </a:effectLst>
        </p:spPr>
      </p:sp>
      <p:sp>
        <p:nvSpPr>
          <p:cNvPr id="9" name="Text 7"/>
          <p:cNvSpPr txBox="1"/>
          <p:nvPr/>
        </p:nvSpPr>
        <p:spPr>
          <a:xfrm>
            <a:off x="1088136" y="16916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88136" y="2084832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15 (App Router) + React 18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TypeScript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4425696" y="146304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6E5EB"/>
            </a:solidFill>
            <a:prstDash val="solid"/>
          </a:ln>
          <a:effectLst>
            <a:outerShdw blurRad="101600" dist="25400" dir="5400000" algn="bl" rotWithShape="0">
              <a:srgbClr val="0F2A3A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4700016" y="16916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700016" y="2084832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Uvicorn (Python)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 err="1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</a:t>
            </a:r>
            <a:r>
              <a:rPr lang="en-US" sz="1450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settings &amp; validation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8037576" y="146304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6E5EB"/>
            </a:solidFill>
            <a:prstDash val="solid"/>
          </a:ln>
          <a:effectLst>
            <a:outerShdw blurRad="101600" dist="25400" dir="5400000" algn="bl" rotWithShape="0">
              <a:srgbClr val="0F2A3A">
                <a:alpha val="1000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311896" y="169164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LLM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11896" y="2084832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 — Claude Sonnet 4.5 (foundation model)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Agent Builder (Kibana)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13816" y="388620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6E5EB"/>
            </a:solidFill>
            <a:prstDash val="solid"/>
          </a:ln>
          <a:effectLst>
            <a:outerShdw blurRad="101600" dist="25400" dir="5400000" algn="bl" rotWithShape="0">
              <a:srgbClr val="0F2A3A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88136" y="41148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&amp; DATA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88136" y="4507992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Elasticsearch Cloud Serverless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BM25 + kNN with RRF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ES|QL bi-temporal queries</a:t>
            </a:r>
            <a:endParaRPr lang="en-US" sz="1450" dirty="0"/>
          </a:p>
        </p:txBody>
      </p:sp>
      <p:sp>
        <p:nvSpPr>
          <p:cNvPr id="20" name="Shape 18"/>
          <p:cNvSpPr/>
          <p:nvPr/>
        </p:nvSpPr>
        <p:spPr>
          <a:xfrm>
            <a:off x="4425696" y="388620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6E5EB"/>
            </a:solidFill>
            <a:prstDash val="solid"/>
          </a:ln>
          <a:effectLst>
            <a:outerShdw blurRad="101600" dist="25400" dir="5400000" algn="bl" rotWithShape="0">
              <a:srgbClr val="0F2A3A">
                <a:alpha val="1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4700016" y="41148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&amp; OCR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4700016" y="4507992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— embedded PDF text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Tesseract (pytesseract) — scans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8037576" y="3886200"/>
            <a:ext cx="3337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6E5EB"/>
            </a:solidFill>
            <a:prstDash val="solid"/>
          </a:ln>
          <a:effectLst>
            <a:outerShdw blurRad="101600" dist="25400" dir="5400000" algn="bl" rotWithShape="0">
              <a:srgbClr val="0F2A3A">
                <a:alpha val="1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8311896" y="4114800"/>
            <a:ext cx="2788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OPS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311896" y="4507992"/>
            <a:ext cx="2788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hash-chained audit ledger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Compose — backend + frontend</a:t>
            </a:r>
            <a:endParaRPr lang="en-US" sz="1450" dirty="0"/>
          </a:p>
          <a:p>
            <a:pPr marL="177800" indent="-177800">
              <a:spcAft>
                <a:spcPts val="500"/>
              </a:spcAft>
              <a:buSzPct val="100000"/>
              <a:buChar char="•"/>
            </a:pPr>
            <a:r>
              <a:rPr lang="en-US" sz="1450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against a live ES cluster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13816" y="3291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 &amp; INFRASTRUCTURE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03536" y="329184"/>
            <a:ext cx="274320" cy="274320"/>
          </a:xfrm>
          <a:prstGeom prst="ellipse">
            <a:avLst/>
          </a:prstGeom>
          <a:solidFill>
            <a:srgbClr val="0A7C8A"/>
          </a:solidFill>
          <a:ln w="12700">
            <a:solidFill>
              <a:srgbClr val="0A7C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13264" y="392278"/>
            <a:ext cx="54864" cy="14813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66630" y="438912"/>
            <a:ext cx="148133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69296" y="3291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MediAudit-X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713232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purpose-built agents, one shared foundation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13816" y="1508760"/>
            <a:ext cx="51435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6E5EB"/>
            </a:solidFill>
            <a:prstDash val="solid"/>
          </a:ln>
          <a:effectLst>
            <a:outerShdw blurRad="101600" dist="25400" dir="5400000" algn="bl" rotWithShape="0">
              <a:srgbClr val="0F2A3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88136" y="1764792"/>
            <a:ext cx="502920" cy="502920"/>
          </a:xfrm>
          <a:prstGeom prst="ellipse">
            <a:avLst/>
          </a:prstGeom>
          <a:solidFill>
            <a:srgbClr val="E2F4F1"/>
          </a:solidFill>
          <a:ln w="12700">
            <a:solidFill>
              <a:srgbClr val="E2F4F1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3866" y="1890522"/>
            <a:ext cx="251460" cy="25146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728216" y="1764792"/>
            <a:ext cx="3954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Adjudication Agent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1088136" y="2423160"/>
            <a:ext cx="45948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end-to-end coverage decision: checks payer policy, verifies the patient's treatment history, and screens for drug interactions — then a deterministic rule turns those findings into Approve, Deny, or Request Info, streamed live to the reviewer.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6231636" y="1508760"/>
            <a:ext cx="5143500" cy="2240280"/>
          </a:xfrm>
          <a:prstGeom prst="roundRect">
            <a:avLst>
              <a:gd name="adj" fmla="val 3265"/>
            </a:avLst>
          </a:prstGeom>
          <a:solidFill>
            <a:srgbClr val="FFFFFF"/>
          </a:solidFill>
          <a:ln w="9525">
            <a:solidFill>
              <a:srgbClr val="D6E5EB"/>
            </a:solidFill>
            <a:prstDash val="solid"/>
          </a:ln>
          <a:effectLst>
            <a:outerShdw blurRad="101600" dist="25400" dir="5400000" algn="bl" rotWithShape="0">
              <a:srgbClr val="0F2A3A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505956" y="1764792"/>
            <a:ext cx="502920" cy="502920"/>
          </a:xfrm>
          <a:prstGeom prst="ellipse">
            <a:avLst/>
          </a:prstGeom>
          <a:solidFill>
            <a:srgbClr val="E2F4F1"/>
          </a:solidFill>
          <a:ln w="12700">
            <a:solidFill>
              <a:srgbClr val="E2F4F1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1686" y="1890522"/>
            <a:ext cx="251460" cy="25146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146036" y="1764792"/>
            <a:ext cx="39547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Chat Agent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6505956" y="2423160"/>
            <a:ext cx="45948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a reviewer ask free-text questions about a claim — "was step therapy met?", "why was this denied?" — answered from the same real clinical and policy data, not a canned response.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813816" y="4023360"/>
            <a:ext cx="5143500" cy="1463040"/>
          </a:xfrm>
          <a:prstGeom prst="roundRect">
            <a:avLst>
              <a:gd name="adj" fmla="val 5000"/>
            </a:avLst>
          </a:prstGeom>
          <a:solidFill>
            <a:srgbClr val="0B3554"/>
          </a:solidFill>
          <a:ln w="9525">
            <a:solidFill>
              <a:srgbClr val="0B355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088136" y="4251960"/>
            <a:ext cx="411480" cy="411480"/>
          </a:xfrm>
          <a:prstGeom prst="ellipse">
            <a:avLst/>
          </a:prstGeom>
          <a:solidFill>
            <a:srgbClr val="14507A"/>
          </a:solidFill>
          <a:ln w="12700">
            <a:solidFill>
              <a:srgbClr val="14507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1006" y="4354830"/>
            <a:ext cx="205740" cy="20574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682496" y="4251960"/>
            <a:ext cx="4000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Bedrock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1088136" y="4800600"/>
            <a:ext cx="45948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A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Hosts the Claude Sonnet 4.5 foundation model that powers both agents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6231636" y="4023360"/>
            <a:ext cx="5143500" cy="1463040"/>
          </a:xfrm>
          <a:prstGeom prst="roundRect">
            <a:avLst>
              <a:gd name="adj" fmla="val 5000"/>
            </a:avLst>
          </a:prstGeom>
          <a:solidFill>
            <a:srgbClr val="0B3554"/>
          </a:solidFill>
          <a:ln w="9525">
            <a:solidFill>
              <a:srgbClr val="0B3554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6505956" y="4251960"/>
            <a:ext cx="411480" cy="411480"/>
          </a:xfrm>
          <a:prstGeom prst="ellipse">
            <a:avLst/>
          </a:prstGeom>
          <a:solidFill>
            <a:srgbClr val="14507A"/>
          </a:solidFill>
          <a:ln w="12700">
            <a:solidFill>
              <a:srgbClr val="14507A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08826" y="4354830"/>
            <a:ext cx="205740" cy="20574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100316" y="4251960"/>
            <a:ext cx="40005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Elastic Agent Builder, in Kibana</a:t>
            </a:r>
            <a:endParaRPr lang="en-US" sz="1500" dirty="0"/>
          </a:p>
        </p:txBody>
      </p:sp>
      <p:sp>
        <p:nvSpPr>
          <p:cNvPr id="27" name="Text 21"/>
          <p:cNvSpPr txBox="1"/>
          <p:nvPr/>
        </p:nvSpPr>
        <p:spPr>
          <a:xfrm>
            <a:off x="6505956" y="4800600"/>
            <a:ext cx="45948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BA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the Claim Chat agent natively inside Kibana, giving reviewers a Kibana-native conversational layer over the same clinical and policy data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813816" y="5760720"/>
            <a:ext cx="10561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B55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Kibana logging captures every search, citation, and decision behind an agent's answer — including the tamper-evident audit ledger — so the full trail is inspectable directly in Kibana, alongside its own conversational orchestration for the Claim Chat agent.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35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03536" y="32918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13264" y="392278"/>
            <a:ext cx="54864" cy="148133"/>
          </a:xfrm>
          <a:prstGeom prst="rect">
            <a:avLst/>
          </a:prstGeom>
          <a:solidFill>
            <a:srgbClr val="0A7C8A"/>
          </a:solidFill>
          <a:ln w="12700">
            <a:solidFill>
              <a:srgbClr val="0A7C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66630" y="438912"/>
            <a:ext cx="148133" cy="54864"/>
          </a:xfrm>
          <a:prstGeom prst="rect">
            <a:avLst/>
          </a:prstGeom>
          <a:solidFill>
            <a:srgbClr val="0A7C8A"/>
          </a:solidFill>
          <a:ln w="12700">
            <a:solidFill>
              <a:srgbClr val="0A7C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69296" y="3291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MediAudit-X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3816" y="96012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6FD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DIFFERENT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1371600"/>
            <a:ext cx="105613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ranker chooses.</a:t>
            </a:r>
            <a:endParaRPr lang="en-US" sz="5000" dirty="0"/>
          </a:p>
          <a:p>
            <a:pPr marL="0" indent="0" algn="ctr">
              <a:buNone/>
            </a:pPr>
            <a:r>
              <a:rPr lang="en-US" sz="5000" b="1" dirty="0">
                <a:solidFill>
                  <a:srgbClr val="6FD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never invents.</a:t>
            </a:r>
            <a:endParaRPr lang="en-US" sz="5000" dirty="0"/>
          </a:p>
        </p:txBody>
      </p:sp>
      <p:sp>
        <p:nvSpPr>
          <p:cNvPr id="8" name="Shape 6"/>
          <p:cNvSpPr/>
          <p:nvPr/>
        </p:nvSpPr>
        <p:spPr>
          <a:xfrm>
            <a:off x="813816" y="3429000"/>
            <a:ext cx="3337560" cy="2743200"/>
          </a:xfrm>
          <a:prstGeom prst="roundRect">
            <a:avLst>
              <a:gd name="adj" fmla="val 2667"/>
            </a:avLst>
          </a:prstGeom>
          <a:solidFill>
            <a:srgbClr val="0F4266"/>
          </a:solidFill>
          <a:ln w="9525">
            <a:solidFill>
              <a:srgbClr val="21608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88136" y="3685032"/>
            <a:ext cx="457200" cy="457200"/>
          </a:xfrm>
          <a:prstGeom prst="ellipse">
            <a:avLst/>
          </a:prstGeom>
          <a:solidFill>
            <a:srgbClr val="14507A"/>
          </a:solidFill>
          <a:ln w="12700">
            <a:solidFill>
              <a:srgbClr val="14507A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2436" y="3799332"/>
            <a:ext cx="228600" cy="2286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088136" y="4297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ranker picks the code, not the model</a:t>
            </a:r>
            <a:endParaRPr lang="en-US" sz="1500" dirty="0"/>
          </a:p>
        </p:txBody>
      </p:sp>
      <p:sp>
        <p:nvSpPr>
          <p:cNvPr id="12" name="Text 9"/>
          <p:cNvSpPr txBox="1"/>
          <p:nvPr/>
        </p:nvSpPr>
        <p:spPr>
          <a:xfrm>
            <a:off x="1088136" y="489204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A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Candidates come from a retriever engine and the LLM's own search; a ranker picks the best match — and picks the coder's entered code whenever a claim goes through review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425696" y="3429000"/>
            <a:ext cx="3337560" cy="2743200"/>
          </a:xfrm>
          <a:prstGeom prst="roundRect">
            <a:avLst>
              <a:gd name="adj" fmla="val 2667"/>
            </a:avLst>
          </a:prstGeom>
          <a:solidFill>
            <a:srgbClr val="0F4266"/>
          </a:solidFill>
          <a:ln w="9525">
            <a:solidFill>
              <a:srgbClr val="21608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700016" y="3685032"/>
            <a:ext cx="457200" cy="457200"/>
          </a:xfrm>
          <a:prstGeom prst="ellipse">
            <a:avLst/>
          </a:prstGeom>
          <a:solidFill>
            <a:srgbClr val="14507A"/>
          </a:solidFill>
          <a:ln w="12700">
            <a:solidFill>
              <a:srgbClr val="14507A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14316" y="3799332"/>
            <a:ext cx="228600" cy="228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4700016" y="4297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LLM-assisted, rule-confirmed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4700016" y="489204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A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LLM reasons through the evidence toward the outcome; a deterministic rule confirms it before it's final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037576" y="3429000"/>
            <a:ext cx="3337560" cy="2743200"/>
          </a:xfrm>
          <a:prstGeom prst="roundRect">
            <a:avLst>
              <a:gd name="adj" fmla="val 2667"/>
            </a:avLst>
          </a:prstGeom>
          <a:solidFill>
            <a:srgbClr val="0F4266"/>
          </a:solidFill>
          <a:ln w="9525">
            <a:solidFill>
              <a:srgbClr val="21608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311896" y="3685032"/>
            <a:ext cx="457200" cy="457200"/>
          </a:xfrm>
          <a:prstGeom prst="ellipse">
            <a:avLst/>
          </a:prstGeom>
          <a:solidFill>
            <a:srgbClr val="14507A"/>
          </a:solidFill>
          <a:ln w="12700">
            <a:solidFill>
              <a:srgbClr val="14507A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26196" y="3799332"/>
            <a:ext cx="228600" cy="228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311896" y="4297680"/>
            <a:ext cx="2788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is hash-chained</a:t>
            </a:r>
            <a:endParaRPr lang="en-US" sz="1500" dirty="0"/>
          </a:p>
        </p:txBody>
      </p:sp>
      <p:sp>
        <p:nvSpPr>
          <p:cNvPr id="22" name="Text 17"/>
          <p:cNvSpPr txBox="1"/>
          <p:nvPr/>
        </p:nvSpPr>
        <p:spPr>
          <a:xfrm>
            <a:off x="8311896" y="4892040"/>
            <a:ext cx="27889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BA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SHA-256 audit ledger — tampering is mathematically detectable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748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03536" y="329184"/>
            <a:ext cx="274320" cy="27432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113264" y="392278"/>
            <a:ext cx="54864" cy="148133"/>
          </a:xfrm>
          <a:prstGeom prst="rect">
            <a:avLst/>
          </a:prstGeom>
          <a:solidFill>
            <a:srgbClr val="0A7C8A"/>
          </a:solidFill>
          <a:ln w="12700">
            <a:solidFill>
              <a:srgbClr val="0A7C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066630" y="438912"/>
            <a:ext cx="148133" cy="54864"/>
          </a:xfrm>
          <a:prstGeom prst="rect">
            <a:avLst/>
          </a:prstGeom>
          <a:solidFill>
            <a:srgbClr val="0A7C8A"/>
          </a:solidFill>
          <a:ln w="12700">
            <a:solidFill>
              <a:srgbClr val="0A7C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369296" y="3291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MediAudit-X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13816" y="1783080"/>
            <a:ext cx="10561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F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IMPACT — ESTIMATED, NOT YET BENCHMARKED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813816" y="2331720"/>
            <a:ext cx="5120640" cy="2468880"/>
          </a:xfrm>
          <a:prstGeom prst="roundRect">
            <a:avLst>
              <a:gd name="adj" fmla="val 2963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179576" y="265176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~27 min</a:t>
            </a:r>
            <a:endParaRPr lang="en-US" sz="6600" dirty="0"/>
          </a:p>
        </p:txBody>
      </p:sp>
      <p:sp>
        <p:nvSpPr>
          <p:cNvPr id="9" name="Text 7"/>
          <p:cNvSpPr txBox="1"/>
          <p:nvPr/>
        </p:nvSpPr>
        <p:spPr>
          <a:xfrm>
            <a:off x="1179576" y="38404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staff time spent per prior-authorization request today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6254496" y="2331720"/>
            <a:ext cx="5120640" cy="2468880"/>
          </a:xfrm>
          <a:prstGeom prst="roundRect">
            <a:avLst>
              <a:gd name="adj" fmla="val 2963"/>
            </a:avLst>
          </a:prstGeom>
          <a:solidFill>
            <a:srgbClr val="FFFFFF">
              <a:alpha val="12000"/>
            </a:srgbClr>
          </a:solidFill>
          <a:ln w="9525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20256" y="2651760"/>
            <a:ext cx="43891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70–85%</a:t>
            </a:r>
            <a:endParaRPr lang="en-US" sz="6600" dirty="0"/>
          </a:p>
        </p:txBody>
      </p:sp>
      <p:sp>
        <p:nvSpPr>
          <p:cNvPr id="12" name="Text 10"/>
          <p:cNvSpPr txBox="1"/>
          <p:nvPr/>
        </p:nvSpPr>
        <p:spPr>
          <a:xfrm>
            <a:off x="6620256" y="384048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we're targeting once review means verifying AI-cited evidence, not re-deriving it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13816" y="5349240"/>
            <a:ext cx="10561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E6F7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from AMA's 2024 Prior Authorization Physician Survey — 16.4 staff hours/week ÷ 37 requests/week per practice. Our own benchmark harness is intentionally still a work in progress; we're reporting the mechanism's target, not a measured result.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355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41264" y="986252"/>
            <a:ext cx="5833872" cy="4885495"/>
          </a:xfrm>
          <a:prstGeom prst="roundRect">
            <a:avLst>
              <a:gd name="adj" fmla="val 1497"/>
            </a:avLst>
          </a:prstGeom>
          <a:solidFill>
            <a:srgbClr val="FFFFFF"/>
          </a:solidFill>
          <a:ln w="9525">
            <a:solidFill>
              <a:srgbClr val="FFFFFF"/>
            </a:solidFill>
            <a:prstDash val="solid"/>
          </a:ln>
        </p:spPr>
      </p:sp>
      <p:pic>
        <p:nvPicPr>
          <p:cNvPr id="3" name="Image 0" descr="MediAudit-X claim adjudication view with AI recommendation and claim assistant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23560" y="1068548"/>
            <a:ext cx="5669280" cy="472090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13816" y="1463040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033272" y="1589227"/>
            <a:ext cx="109728" cy="296266"/>
          </a:xfrm>
          <a:prstGeom prst="rect">
            <a:avLst/>
          </a:prstGeom>
          <a:solidFill>
            <a:srgbClr val="0A7C8A"/>
          </a:solidFill>
          <a:ln w="12700">
            <a:solidFill>
              <a:srgbClr val="0A7C8A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940003" y="1682496"/>
            <a:ext cx="296266" cy="109728"/>
          </a:xfrm>
          <a:prstGeom prst="rect">
            <a:avLst/>
          </a:prstGeom>
          <a:solidFill>
            <a:srgbClr val="0A7C8A"/>
          </a:solidFill>
          <a:ln w="12700">
            <a:solidFill>
              <a:srgbClr val="0A7C8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13816" y="21945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6FDC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MEDIAUDIT-X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13816" y="2560320"/>
            <a:ext cx="44805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you can cite, not just trust.</a:t>
            </a:r>
            <a:endParaRPr lang="en-US" sz="3800" dirty="0"/>
          </a:p>
        </p:txBody>
      </p:sp>
      <p:sp>
        <p:nvSpPr>
          <p:cNvPr id="9" name="Text 6"/>
          <p:cNvSpPr txBox="1"/>
          <p:nvPr/>
        </p:nvSpPr>
        <p:spPr>
          <a:xfrm>
            <a:off x="813816" y="41605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BAD3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Forge the Future Hackathon 2026 · Elastic × AWS × Sarvam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813816" y="466344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— happy to walk through a live adjudication, citations and all.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 0"/>
          <p:cNvSpPr txBox="1"/>
          <p:nvPr/>
        </p:nvSpPr>
        <p:spPr>
          <a:xfrm>
            <a:off x="813816" y="329184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A7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RESULTS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10003536" y="329184"/>
            <a:ext cx="274320" cy="274320"/>
          </a:xfrm>
          <a:prstGeom prst="ellipse">
            <a:avLst/>
          </a:prstGeom>
          <a:solidFill>
            <a:srgbClr val="0A7C8A"/>
          </a:solidFill>
          <a:ln w="12700">
            <a:solidFill>
              <a:srgbClr val="0A7C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113264" y="392278"/>
            <a:ext cx="54864" cy="14813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66630" y="438912"/>
            <a:ext cx="148133" cy="5486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69296" y="329184"/>
            <a:ext cx="1051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MediAudit-X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813816" y="713232"/>
            <a:ext cx="10561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b="1" dirty="0">
                <a:solidFill>
                  <a:srgbClr val="0F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Benchmark</a:t>
            </a:r>
            <a:endParaRPr lang="en-US" sz="3000" dirty="0"/>
          </a:p>
        </p:txBody>
      </p:sp>
      <p:sp>
        <p:nvSpPr>
          <p:cNvPr id="8" name="TextBox 7"/>
          <p:cNvSpPr txBox="1"/>
          <p:nvPr/>
        </p:nvSpPr>
        <p:spPr>
          <a:xfrm>
            <a:off x="813816" y="1261872"/>
            <a:ext cx="10561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3B5566"/>
                </a:solidFill>
                <a:latin typeface="Calibri"/>
              </a:rPr>
              <a:t>Tested against a live Elasticsearch cluster  ·  26 retrieval + 12 end-to-end test cases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1783080"/>
            <a:ext cx="6675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150">
                <a:solidFill>
                  <a:srgbClr val="0A7C8A"/>
                </a:solidFill>
                <a:latin typeface="Calibri"/>
              </a:rPr>
              <a:t>TOOL-LEVEL RESULTS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4297680"/>
            <a:ext cx="66751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spc="150">
                <a:solidFill>
                  <a:srgbClr val="0A7C8A"/>
                </a:solidFill>
                <a:latin typeface="Calibri"/>
              </a:rPr>
              <a:t>END-TO-END DECISION ACCURACY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813816" y="2103120"/>
          <a:ext cx="6675120" cy="192024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103120"/>
                <a:gridCol w="1051560"/>
                <a:gridCol w="960120"/>
                <a:gridCol w="822960"/>
                <a:gridCol w="685800"/>
                <a:gridCol w="105156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Tool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35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Test Cases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35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35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35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35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Avg Latency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355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2A3A"/>
                          </a:solidFill>
                          <a:latin typeface="Calibri"/>
                        </a:rPr>
                        <a:t>Policy Matcher (RRF Hybrid)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B5566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7C8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7C8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7C8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B5566"/>
                          </a:solidFill>
                          <a:latin typeface="Calibri"/>
                        </a:rPr>
                        <a:t>403ms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2A3A"/>
                          </a:solidFill>
                          <a:latin typeface="Calibri"/>
                        </a:rPr>
                        <a:t>Drug Interaction Detection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B5566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7C8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7C8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7C8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B5566"/>
                          </a:solidFill>
                          <a:latin typeface="Calibri"/>
                        </a:rPr>
                        <a:t>707ms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2A3A"/>
                          </a:solidFill>
                          <a:latin typeface="Calibri"/>
                        </a:rPr>
                        <a:t>Severity Classification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B5566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68818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68818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7C8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68818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2A3A"/>
                          </a:solidFill>
                          <a:latin typeface="Calibri"/>
                        </a:rPr>
                        <a:t>Brand Name Resolution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7C8A"/>
                          </a:solidFill>
                          <a:latin typeface="Calibri"/>
                        </a:rPr>
                        <a:t>2/2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68818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68818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7C8A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68818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813816" y="4590288"/>
          <a:ext cx="6675120" cy="1536192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463040"/>
                <a:gridCol w="731520"/>
                <a:gridCol w="731520"/>
                <a:gridCol w="731520"/>
                <a:gridCol w="1005840"/>
                <a:gridCol w="1005840"/>
                <a:gridCol w="1005840"/>
              </a:tblGrid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Verdict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35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TP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35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FP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35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FN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35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Precision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35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Recall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355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FFFFFF"/>
                          </a:solidFill>
                          <a:latin typeface="Calibri"/>
                        </a:rPr>
                        <a:t>F1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B355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2A3A"/>
                          </a:solidFill>
                          <a:latin typeface="Calibri"/>
                        </a:rPr>
                        <a:t>APPROVED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B5566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B556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B556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7C8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7C8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7C8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2A3A"/>
                          </a:solidFill>
                          <a:latin typeface="Calibri"/>
                        </a:rPr>
                        <a:t>DENIED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B5566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B556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0">
                          <a:solidFill>
                            <a:srgbClr val="3B5566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7C8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7C8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7C8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0F2A3A"/>
                          </a:solidFill>
                          <a:latin typeface="Calibri"/>
                        </a:rPr>
                        <a:t>Overall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E2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7C8A"/>
                          </a:solidFill>
                          <a:latin typeface="Calibri"/>
                        </a:rPr>
                        <a:t>12/12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E2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68818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E2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68818F"/>
                          </a:solidFill>
                          <a:latin typeface="Calibri"/>
                        </a:rPr>
                        <a:t>—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E2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7C8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E2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7C8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E2F4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00" b="1">
                          <a:solidFill>
                            <a:srgbClr val="0A7C8A"/>
                          </a:solidFill>
                          <a:latin typeface="Calibri"/>
                        </a:rPr>
                        <a:t>1.000</a:t>
                      </a:r>
                    </a:p>
                  </a:txBody>
                  <a:tcPr marL="91440" marR="91440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 cap="flat" cmpd="sng">
                      <a:solidFill>
                        <a:srgbClr val="D6E5EB"/>
                      </a:solidFill>
                    </a:lnB>
                    <a:solidFill>
                      <a:srgbClr val="E2F4F1"/>
                    </a:solidFill>
                  </a:tcPr>
                </a:tc>
              </a:tr>
            </a:tbl>
          </a:graphicData>
        </a:graphic>
      </p:graphicFrame>
      <p:sp>
        <p:nvSpPr>
          <p:cNvPr id="8" name="Shape 6"/>
          <p:cNvSpPr/>
          <p:nvPr/>
        </p:nvSpPr>
        <p:spPr>
          <a:xfrm>
            <a:off x="7763256" y="2103120"/>
            <a:ext cx="3611880" cy="19202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6E5EB"/>
            </a:solidFill>
            <a:prstDash val="solid"/>
          </a:ln>
          <a:effectLst>
            <a:outerShdw blurRad="101600" dist="25400" dir="5400000" algn="bl" rotWithShape="0">
              <a:srgbClr val="0F2A3A">
                <a:alpha val="10000"/>
              </a:srgbClr>
            </a:outerShdw>
          </a:effectLst>
        </p:spPr>
      </p:sp>
      <p:sp>
        <p:nvSpPr>
          <p:cNvPr id="13" name="TextBox 12"/>
          <p:cNvSpPr txBox="1"/>
          <p:nvPr/>
        </p:nvSpPr>
        <p:spPr>
          <a:xfrm>
            <a:off x="8037576" y="2377439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1">
                <a:solidFill>
                  <a:srgbClr val="0A7C8A"/>
                </a:solidFill>
                <a:latin typeface="Calibri"/>
              </a:rPr>
              <a:t>12/12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37576" y="320040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B5566"/>
                </a:solidFill>
                <a:latin typeface="Calibri"/>
              </a:rPr>
              <a:t>end-to-end decisions correct — precision, recall and F1 all 1.000</a:t>
            </a:r>
          </a:p>
        </p:txBody>
      </p:sp>
      <p:sp>
        <p:nvSpPr>
          <p:cNvPr id="8" name="Shape 6"/>
          <p:cNvSpPr/>
          <p:nvPr/>
        </p:nvSpPr>
        <p:spPr>
          <a:xfrm>
            <a:off x="7763256" y="4206240"/>
            <a:ext cx="3611880" cy="19202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9525">
            <a:solidFill>
              <a:srgbClr val="D6E5EB"/>
            </a:solidFill>
            <a:prstDash val="solid"/>
          </a:ln>
          <a:effectLst>
            <a:outerShdw blurRad="101600" dist="25400" dir="5400000" algn="bl" rotWithShape="0">
              <a:srgbClr val="0F2A3A">
                <a:alpha val="10000"/>
              </a:srgbClr>
            </a:outerShdw>
          </a:effectLst>
        </p:spPr>
      </p:sp>
      <p:sp>
        <p:nvSpPr>
          <p:cNvPr id="15" name="TextBox 14"/>
          <p:cNvSpPr txBox="1"/>
          <p:nvPr/>
        </p:nvSpPr>
        <p:spPr>
          <a:xfrm>
            <a:off x="8037576" y="4480559"/>
            <a:ext cx="306324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4800" b="1">
                <a:solidFill>
                  <a:srgbClr val="0A7C8A"/>
                </a:solidFill>
                <a:latin typeface="Calibri"/>
              </a:rPr>
              <a:t>872ms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37576" y="5303520"/>
            <a:ext cx="3063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3B5566"/>
                </a:solidFill>
                <a:latin typeface="Calibri"/>
              </a:rPr>
              <a:t>average end-to-end latency per claim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917</Words>
  <Application>Microsoft Office PowerPoint</Application>
  <PresentationFormat>Widescreen</PresentationFormat>
  <Paragraphs>111</Paragraphs>
  <Slides>10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MediAudit-X — Forge the Future Hackathon 2026</dc:title>
  <dc:subject>PptxGenJS Presentation</dc:subject>
  <dc:creator>PptxGenJS</dc:creator>
  <cp:lastModifiedBy>Ansh Jaiswal</cp:lastModifiedBy>
  <cp:revision>5</cp:revision>
  <dcterms:created xsi:type="dcterms:W3CDTF">2026-09-18T19:46:17Z</dcterms:created>
  <dcterms:modified xsi:type="dcterms:W3CDTF">2026-09-18T20:26:33Z</dcterms:modified>
</cp:coreProperties>
</file>